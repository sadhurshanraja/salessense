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6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5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2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39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41.png"/><Relationship Id="rId9" Type="http://schemas.openxmlformats.org/officeDocument/2006/relationships/image" Target="../media/image34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5301" y="1769864"/>
            <a:ext cx="1118139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SalesSense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ML-Based Sales Forecasting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301305"/>
            <a:ext cx="1064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Final Year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173735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Sadhurshan Rajendran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(20222296 / w1989004)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478535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Supervisor: Miss. Akarshani Ramanayake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4783335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Informatics Institute of Technology (IIT) in collaboration with University of Westminster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66850"/>
            <a:ext cx="33590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1466850"/>
            <a:ext cx="335919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466850"/>
            <a:ext cx="33590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086225"/>
            <a:ext cx="33590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4086225"/>
            <a:ext cx="335919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4086225"/>
            <a:ext cx="335905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14425" y="2409825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14425" y="2847975"/>
            <a:ext cx="2673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Problem background, Research Gap &amp; Aim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59225" y="2409825"/>
            <a:ext cx="280706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59225" y="2847975"/>
            <a:ext cx="26733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System Design, Tech Stack &amp; AI Model details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04175" y="2409825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04175" y="2847975"/>
            <a:ext cx="2673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Prototype Demo, Evaluation &amp; Testing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14425" y="5029200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Contribution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14425" y="5467350"/>
            <a:ext cx="2673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Project Novelty &amp; Key Contributions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759225" y="5029200"/>
            <a:ext cx="280706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759225" y="5467350"/>
            <a:ext cx="26733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Limitations &amp; Future Work roadmap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04175" y="5029200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04175" y="5467350"/>
            <a:ext cx="267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Conclusion &amp; Skills assessment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18383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9225" y="183832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4175" y="183832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4425" y="445770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59225" y="44577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04175" y="4457700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PRESENTATION 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66912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72947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4707" r="4425" t="0"/>
          <a:stretch/>
        </p:blipFill>
        <p:spPr>
          <a:xfrm>
            <a:off x="6165870" y="1922085"/>
            <a:ext cx="5393375" cy="37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1914586"/>
            <a:ext cx="53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The Core Problem</a:t>
            </a:r>
            <a:endParaRPr>
              <a:solidFill>
                <a:srgbClr val="2DD4BF"/>
              </a:solidFill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2325151"/>
            <a:ext cx="509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Small-scale specialty spice retailers lack reliable, data-driven forecasting solutions, leading to costly inventory mismanagement (overstocking perishable goods or understocking resulting in missed sales).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3657538"/>
            <a:ext cx="53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Failure of Traditional Methods</a:t>
            </a:r>
            <a:endParaRPr>
              <a:solidFill>
                <a:srgbClr val="2DD4BF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904875" y="4700587"/>
            <a:ext cx="49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"Traditional models frequently yield low explanatory power for complex retail dynamics." (Ganguly &amp; Mukherjee, 2024)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4043362"/>
            <a:ext cx="5095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Relying on manual estimation and basic statistical models fails to capture complex, seasonal, and non-linear sales patterns.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8109" y="4026645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55560" y="231292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52662"/>
            <a:ext cx="33590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252662"/>
            <a:ext cx="335919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252662"/>
            <a:ext cx="33590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114425" y="2595562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Generalized Data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14425" y="3033712"/>
            <a:ext cx="2673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Existing studies rely on massive datasets (Walmart), overlooking constraints like perishability in niche spice retail.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759225" y="2595562"/>
            <a:ext cx="280706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Gap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759225" y="3033712"/>
            <a:ext cx="26733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Prior research neglects integrating high-accuracy predictions into daily operational planning (Venkiteela, 2025).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404175" y="2595562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Interpretability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04175" y="3033712"/>
            <a:ext cx="2673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High-performing models like XGBoost are often "Black-Boxes", reducing manager trust (Davinder Pal Singh, 2023).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71525" y="9406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CRITICAL RESEARCH GAPS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024062"/>
            <a:ext cx="95250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455419" y="2366962"/>
            <a:ext cx="928116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Goal: Design, Develop, and Evaluate a 6-Month Multi-Step Sales Forecasting System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2057400" y="3395662"/>
            <a:ext cx="845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Advanced Modeling: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Utilize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XGBoost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capture non-linear patterns.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2057400" y="3890962"/>
            <a:ext cx="845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Transparent AI: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Provide interpretable outputs using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SHAP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values.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2057400" y="4386262"/>
            <a:ext cx="8458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 Support: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Enable scenario-based financial and cash-flow analysis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&amp; supportive inventory planning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676400" y="33956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676400" y="38909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676400" y="43862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95850" y="90177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PRIMARY PROJECT AIM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71525" y="2066925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Multi-Tiered Layering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52525" y="24765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Pipeline: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Ingestion, preprocessing, and lag-feature engineering.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52525" y="32766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ML Engine: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XGBoost forecasting paired with SHAP explainability layer.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52525" y="40767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Logic: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Translating volume forecasts into cash-flow and inventory metrics.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152525" y="48768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UI Layer: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Interactive React dashboards for scenario planning.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71525" y="24765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71525" y="32766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71525" y="40767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4876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5690" y="1934003"/>
            <a:ext cx="6282187" cy="35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71525" y="2533650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Modern Web &amp; AI Stack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152525" y="29432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React.js / Vite with Dynamic Dashboards.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52525" y="34385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Backend: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FastAPI for efficient routing and high performance.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152525" y="42386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ML Core: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Pandas, Scikit-Learn, XGBoost.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152525" y="47339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Explainability: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SHAP (Shapley Additive Explanations).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71525" y="29432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71525" y="34385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71525" y="42386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71525" y="47339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71475" y="1146900"/>
            <a:ext cx="559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 STACK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9975" y="1227925"/>
            <a:ext cx="5163100" cy="44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6912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71525" y="2066925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&amp; Feature Engineering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6437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152525" y="24765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Historical transactional data from a single-store specialty shop.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52525" y="32766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Engineering: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Time-based lags to capture seasonality (e.g., cultural festivals).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52525" y="40767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Selection: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Benchmarked XGBoost against LSTM and Random Forest.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152525" y="48768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Cross-validation for 6-month multi-step horizons.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71525" y="24765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71525" y="32766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71525" y="40767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71525" y="4876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PIPELINE &amp; DATA</a:t>
            </a:r>
            <a:endParaRPr/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7475" y="2343150"/>
            <a:ext cx="5624700" cy="3303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0" y="2343150"/>
            <a:ext cx="5624700" cy="3303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009650" y="2590800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Dataset &amp; ETL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009650" y="3038475"/>
            <a:ext cx="48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Proprietary unstructured records from a spice shop.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Size: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43 monthly records (April 2022 – Jan 2026). Split 40:3.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Custom ETL: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Parser with regex and dynamic header detection to clean inconsistent Excel bookkeeping files.</a:t>
            </a:r>
            <a:endParaRPr sz="1200"/>
          </a:p>
        </p:txBody>
      </p:sp>
      <p:sp>
        <p:nvSpPr>
          <p:cNvPr id="218" name="Google Shape;218;p20"/>
          <p:cNvSpPr txBox="1"/>
          <p:nvPr/>
        </p:nvSpPr>
        <p:spPr>
          <a:xfrm>
            <a:off x="1009650" y="3981450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09650" y="4429125"/>
            <a:ext cx="4880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Short-term: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Generated Lag1, Lag2, Lag3.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Trends: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RollingMean3, RollingStd3.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Seasonality: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MonthNum, MonthOfYear features.</a:t>
            </a:r>
            <a:endParaRPr sz="1200"/>
          </a:p>
        </p:txBody>
      </p:sp>
      <p:sp>
        <p:nvSpPr>
          <p:cNvPr id="220" name="Google Shape;220;p20"/>
          <p:cNvSpPr txBox="1"/>
          <p:nvPr/>
        </p:nvSpPr>
        <p:spPr>
          <a:xfrm>
            <a:off x="6438900" y="2590800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Model &amp; Training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438900" y="3038475"/>
            <a:ext cx="48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Algorithm: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XGBoost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selected for superior performance on small tabular data over LSTMs.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Tuning: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Strict regularization (LR=0.05, Depth=3) to prevent overfitting to SME noise.</a:t>
            </a:r>
            <a:endParaRPr sz="1200"/>
          </a:p>
        </p:txBody>
      </p:sp>
      <p:sp>
        <p:nvSpPr>
          <p:cNvPr id="222" name="Google Shape;222;p20"/>
          <p:cNvSpPr txBox="1"/>
          <p:nvPr/>
        </p:nvSpPr>
        <p:spPr>
          <a:xfrm>
            <a:off x="6438900" y="3981450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Experiments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438900" y="4429125"/>
            <a:ext cx="48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Comparative: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RF, Linear Regression, and LSTM tested before finalizing XGBoost.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Real-time Architecture: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FastAPI asynchronous state management for on-the-fly training upon data upload.</a:t>
            </a:r>
            <a:endParaRPr sz="1200"/>
          </a:p>
        </p:txBody>
      </p:sp>
      <p:sp>
        <p:nvSpPr>
          <p:cNvPr id="224" name="Google Shape;224;p20"/>
          <p:cNvSpPr txBox="1"/>
          <p:nvPr/>
        </p:nvSpPr>
        <p:spPr>
          <a:xfrm>
            <a:off x="595350" y="975825"/>
            <a:ext cx="110013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15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AI/ML Modal Pipeline &amp; Details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6295150" y="2063061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Dashboard Features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762750" y="253365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Forecasting: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Visualizing 6-Month sales trajectories.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62750" y="302895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Explainability: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SHAP Dashboard showing feature impact on individual predictions.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762750" y="382905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Financials: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Scenario-based adjustment of business parameters.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762750" y="462915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Actionable: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Automatic translation to inventory requirements.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381750" y="2533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381750" y="30289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381750" y="38290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381750" y="4629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86350" y="9541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DEMONSTRATION</a:t>
            </a:r>
            <a:endParaRPr/>
          </a:p>
        </p:txBody>
      </p:sp>
      <p:pic>
        <p:nvPicPr>
          <p:cNvPr id="240" name="Google Shape;240;p21"/>
          <p:cNvPicPr preferRelativeResize="0"/>
          <p:nvPr/>
        </p:nvPicPr>
        <p:blipFill rotWithShape="1">
          <a:blip r:embed="rId4">
            <a:alphaModFix/>
          </a:blip>
          <a:srcRect b="-4170" l="12320" r="12328" t="4170"/>
          <a:stretch/>
        </p:blipFill>
        <p:spPr>
          <a:xfrm>
            <a:off x="894975" y="2167600"/>
            <a:ext cx="4909048" cy="32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709675" y="405287"/>
            <a:ext cx="1064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Outcome: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XGBoost effectively balanced linear trends and high seasonality over the horizon. Proved that engineered lag features enable high performance without "Big Data" infrastructure.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 METRICS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80543"/>
            <a:ext cx="528637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680543"/>
            <a:ext cx="528637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490293"/>
            <a:ext cx="2300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62312" y="4490293"/>
            <a:ext cx="2300287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866775" y="3147268"/>
            <a:ext cx="493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A. Evaluation Conducted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866775" y="3452068"/>
            <a:ext cx="46959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866775" y="3604474"/>
            <a:ext cx="4695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Quantitative: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43 months data training vs 3 months test. Metrics: RMSE, MAE, MAPE, R² Score.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Qualitative: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Functional Testing (100% Pass) &amp; User Focus Group validation.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29400" y="3147268"/>
            <a:ext cx="493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B. Outcomes &amp; Contributions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6629400" y="3452068"/>
            <a:ext cx="46959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629400" y="3604468"/>
            <a:ext cx="46959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Superiority: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XGBoost outperformed RF &amp; LR. </a:t>
            </a:r>
            <a:r>
              <a:rPr b="1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LSTM failed</a:t>
            </a:r>
            <a:r>
              <a:rPr b="0" i="0" lang="en-US" sz="11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due to small dataset size.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Contribution: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Bridged gap between statistics and business value through automated inventory &amp; cash flow translation.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629400" y="4490293"/>
            <a:ext cx="4695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1" lang="en-US" sz="10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Challenge:</a:t>
            </a:r>
            <a:r>
              <a:rPr b="0" i="1" lang="en-US" sz="10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Sparse 43-month dataset and limited empirical expenditure data.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528393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962025" y="4585543"/>
            <a:ext cx="21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12.3%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62025" y="4985593"/>
            <a:ext cx="210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MAPE ERROR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3357562" y="4585543"/>
            <a:ext cx="21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714k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3357562" y="4985593"/>
            <a:ext cx="210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RMSE METRIC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395250" y="13263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&amp; Evaluation</a:t>
            </a:r>
            <a:endParaRPr b="1" sz="315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00300"/>
            <a:ext cx="33590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400300"/>
            <a:ext cx="335919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400300"/>
            <a:ext cx="33590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1114425" y="3343275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Actionable Value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114425" y="3781425"/>
            <a:ext cx="2673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Systematically translates ML forecasts into immediate inventory levels and cash flow scenarios.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4759225" y="3343275"/>
            <a:ext cx="280706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Transparent AI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4759225" y="3781425"/>
            <a:ext cx="26733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Integrating SHAP in a small retail context to break the "Black-Box" and foster SME user trust.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404175" y="3343275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Framework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404175" y="3781425"/>
            <a:ext cx="2673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Interactive "What-If" scenarios allowing owners to adjust costs against predicted trajectories.</a:t>
            </a:r>
            <a:endParaRPr/>
          </a:p>
        </p:txBody>
      </p:sp>
      <p:pic>
        <p:nvPicPr>
          <p:cNvPr descr="image.png" id="280" name="Google Shape;28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27717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9225" y="277177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4175" y="27717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771525" y="9406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NOVELTY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14587"/>
            <a:ext cx="518160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14587"/>
            <a:ext cx="51816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1114425" y="2757487"/>
            <a:ext cx="47205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Limitations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581775" y="2757487"/>
            <a:ext cx="47205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Work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495425" y="3195637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Small historical dataset from a single entity.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1495425" y="3690937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 real-time external data stream ingestion.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6962775" y="3195637"/>
            <a:ext cx="411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Macroeconomic &amp; Social media trend integration.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962775" y="3995737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Multi-tenant SaaS platform expansion.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6962775" y="4491037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Automated POS data ingestion.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1114425" y="31956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114425" y="36909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581775" y="31956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6581775" y="39957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581775" y="44910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771525" y="95037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GROWTH &amp; CONSTRAINTS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771525" y="2601232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Advanced New Skills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381750" y="2974068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Applied Existing Skills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152525" y="29337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XGBoost Mastery: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Hyperparameter tuning &amp; multi-step forecasting.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152525" y="37338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Explainability: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SHAP integration.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152525" y="422910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Financial UI: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Translating ML logic into finance dashboards.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762750" y="32385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Full-stack Software Engineering.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762750" y="37338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System Architecture &amp; API Development.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6762750" y="42291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Database Management.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771525" y="29337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771525" y="3733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771525" y="42291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381750" y="32385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381750" y="3733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6381750" y="42291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SKILL ASSESSMENT</a:t>
            </a:r>
            <a:endParaRPr/>
          </a:p>
        </p:txBody>
      </p:sp>
      <p:pic>
        <p:nvPicPr>
          <p:cNvPr descr="image.png" id="324" name="Google Shape;3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9980"/>
            <a:ext cx="5286375" cy="4191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989980"/>
            <a:ext cx="5286375" cy="419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866775" y="2513855"/>
            <a:ext cx="493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Professional Competencies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866775" y="2999630"/>
            <a:ext cx="469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New Skills Developed: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866775" y="4656980"/>
            <a:ext cx="469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Utilized Foundation: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6629400" y="2513855"/>
            <a:ext cx="493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Final Strategic Summary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133475" y="337110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581150" y="3371105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Advanced ML (XGBoost &amp; Tuning)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133475" y="3799730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581150" y="3799730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 Interpretability (SHAP)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133475" y="422835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581150" y="4228355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Financial UI Development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1133475" y="502845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1581150" y="5028455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Full-stack Software Engineering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1133475" y="5457080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1581150" y="5457080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Architecture &amp; API Development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343775" y="2999630"/>
            <a:ext cx="398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Bridge the Gap: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Successfully connected complex ML forecasting with practical SME usability.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7343775" y="3714005"/>
            <a:ext cx="398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Interpretable Tool: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Developed a highly accurate tool tailored specifically for the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spice retail domain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7343775" y="4714130"/>
            <a:ext cx="398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Structured 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Established a methodology for turning theoretical data into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proactive business strategies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344" name="Google Shape;34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0400" y="304249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0400" y="375686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0400" y="475699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Summary</a:t>
            </a:r>
            <a:endParaRPr b="1" sz="315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061370"/>
            <a:ext cx="10648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505301" y="2091630"/>
            <a:ext cx="111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b="1" sz="60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771525" y="3253680"/>
            <a:ext cx="10648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Questions &amp; Answers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571500" y="4298299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Sadhurshan Rajendran | SalesSense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